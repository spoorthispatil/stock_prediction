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08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077A8">
              <a:alpha val="15000"/>
            </a:srgbClr>
          </a:solidFill>
          <a:ln w="12700">
            <a:solidFill>
              <a:srgbClr val="0077A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8229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v 2.1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280160"/>
            <a:ext cx="146304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0515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Stock Prediction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 System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Short-Term Stock Price Forecasting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3063240"/>
            <a:ext cx="29260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5D6"/>
                </a:solidFill>
              </a:rPr>
              <a:t>Author: </a:t>
            </a:r>
            <a:r>
              <a:rPr lang="en-US" sz="1300" b="1" dirty="0">
                <a:solidFill>
                  <a:srgbClr val="FFFFFF"/>
                </a:solidFill>
              </a:rPr>
              <a:t>Spoorthi S Patil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·  Bidirectional LSTM  ·  Technical Indicators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EAEC4"/>
                </a:solidFill>
              </a:rPr>
              <a:t>Stock Prediction System  |  Advanced ML Research Project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2651760" cy="320040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85800"/>
            <a:ext cx="54864" cy="3200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68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8503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Forecasting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" y="1490472"/>
            <a:ext cx="2359152" cy="27432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" y="16002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next-day and 7-day rolling stock prices using machine learning on historical OHLCV data.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685800"/>
            <a:ext cx="2651760" cy="3200400"/>
          </a:xfrm>
          <a:prstGeom prst="rect">
            <a:avLst/>
          </a:prstGeom>
          <a:solidFill>
            <a:srgbClr val="112233"/>
          </a:solidFill>
          <a:ln w="1905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685800"/>
            <a:ext cx="54864" cy="3200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8686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8503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Strategy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364992" y="1490472"/>
            <a:ext cx="2359152" cy="27432"/>
          </a:xfrm>
          <a:prstGeom prst="rect">
            <a:avLst/>
          </a:prstGeom>
          <a:solidFill>
            <a:srgbClr val="F4A261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64992" y="16002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both XGBoost and Bidirectional LSTM, then automatically selects the best model by RMSE.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80760" y="685800"/>
            <a:ext cx="2651760" cy="3200400"/>
          </a:xfrm>
          <a:prstGeom prst="rect">
            <a:avLst/>
          </a:prstGeom>
          <a:solidFill>
            <a:srgbClr val="112233"/>
          </a:solidFill>
          <a:ln w="1905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685800"/>
            <a:ext cx="54864" cy="32004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8686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8503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Reasoning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45352" y="1490472"/>
            <a:ext cx="2359152" cy="27432"/>
          </a:xfrm>
          <a:prstGeom prst="rect">
            <a:avLst/>
          </a:prstGeom>
          <a:solidFill>
            <a:srgbClr val="2DC653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245352" y="16002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Enriches raw prices with MA10, RSI and MACD indicators to capture momentum and trend signals.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20040" y="4069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AEC4"/>
                </a:solidFill>
              </a:rPr>
              <a:t>Scope: 24 US-listed tickers  ·  3 years of training data  ·  20-day look-back window  ·  85/15 train-test split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EAEC4"/>
                </a:solidFill>
              </a:rPr>
              <a:t>Stock Prediction System  |  Project Overview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920240" cy="160020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58368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01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74980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0972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81328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3-yr OHLCV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0" y="1431036"/>
            <a:ext cx="256032" cy="54864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658368"/>
            <a:ext cx="1920240" cy="1600200"/>
          </a:xfrm>
          <a:prstGeom prst="rect">
            <a:avLst/>
          </a:prstGeom>
          <a:solidFill>
            <a:srgbClr val="112233"/>
          </a:solidFill>
          <a:ln w="1905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42032" y="658368"/>
            <a:ext cx="192024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33472" y="749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02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74980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33472" y="10972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33472" y="1481328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MA10 · RSI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462272" y="1431036"/>
            <a:ext cx="256032" cy="54864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18304" y="658368"/>
            <a:ext cx="1920240" cy="160020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18304" y="658368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09744" y="749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03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4" y="749808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09744" y="10972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809744" y="1481328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[0,1] range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638544" y="1431036"/>
            <a:ext cx="256032" cy="54864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94576" y="658368"/>
            <a:ext cx="1920240" cy="1600200"/>
          </a:xfrm>
          <a:prstGeom prst="rect">
            <a:avLst/>
          </a:prstGeom>
          <a:solidFill>
            <a:srgbClr val="112233"/>
          </a:solidFill>
          <a:ln w="1905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94576" y="658368"/>
            <a:ext cx="192024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986016" y="749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04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736" y="749808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86016" y="10972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986016" y="1481328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20-day windows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65760" y="2487168"/>
            <a:ext cx="1920240" cy="1600200"/>
          </a:xfrm>
          <a:prstGeom prst="rect">
            <a:avLst/>
          </a:prstGeom>
          <a:solidFill>
            <a:srgbClr val="112233"/>
          </a:solidFill>
          <a:ln w="1905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65760" y="2487168"/>
            <a:ext cx="192024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57200" y="25786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</a:rPr>
              <a:t>05</a:t>
            </a:r>
            <a:endParaRPr lang="en-US" sz="11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0" y="2578608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57200" y="29260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57200" y="3310128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BiLSTM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2286000" y="3259836"/>
            <a:ext cx="256032" cy="54864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2542032" y="2487168"/>
            <a:ext cx="1920240" cy="160020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2542032" y="2487168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2633472" y="25786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06</a:t>
            </a:r>
            <a:endParaRPr lang="en-US" sz="11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2192" y="2578608"/>
            <a:ext cx="411480" cy="4114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633472" y="29260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2633472" y="3310128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RMSE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4462272" y="3259836"/>
            <a:ext cx="256032" cy="54864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4718304" y="2487168"/>
            <a:ext cx="1920240" cy="1600200"/>
          </a:xfrm>
          <a:prstGeom prst="rect">
            <a:avLst/>
          </a:prstGeom>
          <a:solidFill>
            <a:srgbClr val="112233"/>
          </a:solidFill>
          <a:ln w="1905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718304" y="2487168"/>
            <a:ext cx="192024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4809744" y="25786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07</a:t>
            </a:r>
            <a:endParaRPr lang="en-US" sz="11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8464" y="2578608"/>
            <a:ext cx="411480" cy="41148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4809744" y="29260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50" name="Text 41"/>
          <p:cNvSpPr/>
          <p:nvPr/>
        </p:nvSpPr>
        <p:spPr>
          <a:xfrm>
            <a:off x="4809744" y="3310128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RMSE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6638544" y="3259836"/>
            <a:ext cx="256032" cy="54864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6894576" y="2487168"/>
            <a:ext cx="1920240" cy="1600200"/>
          </a:xfrm>
          <a:prstGeom prst="rect">
            <a:avLst/>
          </a:prstGeom>
          <a:solidFill>
            <a:srgbClr val="112233"/>
          </a:solidFill>
          <a:ln w="1905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3" name="Shape 44"/>
          <p:cNvSpPr/>
          <p:nvPr/>
        </p:nvSpPr>
        <p:spPr>
          <a:xfrm>
            <a:off x="6894576" y="2487168"/>
            <a:ext cx="192024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6986016" y="25786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</a:rPr>
              <a:t>08</a:t>
            </a:r>
            <a:endParaRPr lang="en-US" sz="1100" dirty="0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4736" y="2578608"/>
            <a:ext cx="411480" cy="411480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6986016" y="29260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57" name="Text 47"/>
          <p:cNvSpPr/>
          <p:nvPr/>
        </p:nvSpPr>
        <p:spPr>
          <a:xfrm>
            <a:off x="6986016" y="3310128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chart</a:t>
            </a:r>
            <a:endParaRPr lang="en-US" sz="1100" dirty="0"/>
          </a:p>
        </p:txBody>
      </p:sp>
      <p:sp>
        <p:nvSpPr>
          <p:cNvPr id="58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EAEC4"/>
                </a:solidFill>
              </a:rPr>
              <a:t>Stock Prediction System  |  Pipeline Architecture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 Used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2651760" cy="393192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58368"/>
            <a:ext cx="54864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58368"/>
            <a:ext cx="2651760" cy="77724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7315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713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MA10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29768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Moving Average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48056" y="1947672"/>
            <a:ext cx="24505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average of the last 10 closing prices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out short-term noise in price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&gt; MA10 signals upward momentum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&lt; MA10 signals downward pressure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0" y="658368"/>
            <a:ext cx="2651760" cy="3931920"/>
          </a:xfrm>
          <a:prstGeom prst="rect">
            <a:avLst/>
          </a:prstGeom>
          <a:solidFill>
            <a:srgbClr val="112233"/>
          </a:solidFill>
          <a:ln w="1905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658368"/>
            <a:ext cx="54864" cy="3931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658368"/>
            <a:ext cx="2651760" cy="777240"/>
          </a:xfrm>
          <a:prstGeom prst="rect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7315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713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310128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Strength Index (14-day)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28416" y="1947672"/>
            <a:ext cx="24505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speed and magnitude of price changes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&gt; 70 → Overbought (potential reversal down)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&lt; 30 → Oversold (potential reversal up)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division by zero with epsilon (1e-9)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80760" y="658368"/>
            <a:ext cx="2651760" cy="3931920"/>
          </a:xfrm>
          <a:prstGeom prst="rect">
            <a:avLst/>
          </a:prstGeom>
          <a:solidFill>
            <a:srgbClr val="112233"/>
          </a:solidFill>
          <a:ln w="1905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658368"/>
            <a:ext cx="54864" cy="39319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80760" y="658368"/>
            <a:ext cx="2651760" cy="777240"/>
          </a:xfrm>
          <a:prstGeom prst="rect">
            <a:avLst/>
          </a:prstGeom>
          <a:solidFill>
            <a:srgbClr val="2DC653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73152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66560" y="713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6190488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Avg Convergence Divergence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208776" y="1947672"/>
            <a:ext cx="24505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12-day and 26-day EMAs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 &gt; 0 → Bullish momentum (new in v2.1)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 &lt; 0 → Bearish momentum signal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tool in quantitative technical analysis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EAEC4"/>
                </a:solidFill>
              </a:rPr>
              <a:t>Stock Prediction System  |  Feature Engineering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114800" cy="406908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54864" cy="4069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"/>
            <a:ext cx="4114800" cy="73152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9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Gradient Boosting Regressor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2D array (samples × features)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levels per tree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(conservative)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 |  colsample_bytree: 0.8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AEC4"/>
                </a:solidFill>
              </a:rPr>
              <a:t>Strengths: Fast training · Handles non-linear patterns · Robust to outliers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658368"/>
            <a:ext cx="4114800" cy="4069080"/>
          </a:xfrm>
          <a:prstGeom prst="rect">
            <a:avLst/>
          </a:prstGeom>
          <a:solidFill>
            <a:srgbClr val="112233"/>
          </a:solidFill>
          <a:ln w="1905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658368"/>
            <a:ext cx="54864" cy="4069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658368"/>
            <a:ext cx="4114800" cy="731520"/>
          </a:xfrm>
          <a:prstGeom prst="rect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749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1426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Bidirectional LSTM Neural Network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810512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sequence (samples × timesteps × features)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Bidirectional(LSTM 64) → Dropout 0.3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         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Bidirectional(LSTM 32) → Dropout 0.2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         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Dense(16) → Dense(1) output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patience=10, restore best weights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AEC4"/>
                </a:solidFill>
              </a:rPr>
              <a:t>Strengths: Captures temporal dependencies · Reads sequences both forward &amp; backward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EAEC4"/>
                </a:solidFill>
              </a:rPr>
              <a:t>Stock Prediction System  |  Model Architecture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92608" y="658368"/>
            <a:ext cx="2743200" cy="365760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658368"/>
            <a:ext cx="54864" cy="3657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7498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2505456" cy="4114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MAE = (1/n) Σ |yᵢ − ŷᵢ|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450592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difference between actual and predicted prices. Expressed in USD — intuitive and easy to interpret.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2968" y="658368"/>
            <a:ext cx="2743200" cy="3657600"/>
          </a:xfrm>
          <a:prstGeom prst="rect">
            <a:avLst/>
          </a:prstGeom>
          <a:solidFill>
            <a:srgbClr val="112233"/>
          </a:solidFill>
          <a:ln w="1905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658368"/>
            <a:ext cx="54864" cy="3657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7498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310128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91840" y="1920240"/>
            <a:ext cx="2505456" cy="411480"/>
          </a:xfrm>
          <a:prstGeom prst="rect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92024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</a:rPr>
              <a:t>RMSE = √[(1/n) Σ (yᵢ − ŷᵢ)²]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450592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 each error before averaging, penalising large mistakes more heavily. Preferred in finance due to cost of big misses.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53328" y="658368"/>
            <a:ext cx="2743200" cy="3657600"/>
          </a:xfrm>
          <a:prstGeom prst="rect">
            <a:avLst/>
          </a:prstGeom>
          <a:solidFill>
            <a:srgbClr val="112233"/>
          </a:solidFill>
          <a:ln w="1905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53328" y="658368"/>
            <a:ext cx="54864" cy="36576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7498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190488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Percentage Error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1920240"/>
            <a:ext cx="2505456" cy="411480"/>
          </a:xfrm>
          <a:prstGeom prst="rect">
            <a:avLst/>
          </a:prstGeom>
          <a:solidFill>
            <a:srgbClr val="2DC653">
              <a:alpha val="2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92024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653"/>
                </a:solidFill>
              </a:rPr>
              <a:t>MAPE = (100/n) Σ |yᵢ−ŷᵢ| / |yᵢ|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0488" y="2450592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error as a percentage of the actual price. Allows fair comparison across stocks with different price ranges.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92608" y="4462272"/>
            <a:ext cx="8558784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4462272"/>
            <a:ext cx="8558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⭐  Best model is automatically selected based on lowest RMSE — penalises large prediction errors more than MAE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EAEC4"/>
                </a:solidFill>
              </a:rPr>
              <a:t>Stock Prediction System  |  Evaluation Metrics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Tickers &amp; System Outputs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572000" cy="420624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54864" cy="4206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Supported Tickers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207008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07008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TSLA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53896" y="1207008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3896" y="1207008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MSFT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23744" y="1207008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207008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93592" y="1207008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1207008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1600200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6002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AMZN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53896" y="1600200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53896" y="16002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23744" y="1600200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3744" y="16002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AMD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93592" y="1600200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160020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AAPL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1993392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1993392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NFLX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53896" y="1993392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53896" y="1993392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TSM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23744" y="1993392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3744" y="1993392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93592" y="1993392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1993392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" y="2386584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2386584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453896" y="2386584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53896" y="2386584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23744" y="2386584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23744" y="2386584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VZ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93592" y="2386584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93592" y="2386584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84048" y="2779776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2779776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453896" y="2779776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53896" y="2779776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523744" y="2779776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23744" y="2779776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593592" y="2779776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93592" y="2779776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PYPL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84048" y="3172968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3172968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ENPH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453896" y="3172968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53896" y="3172968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NIO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523744" y="3172968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23744" y="3172968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593592" y="3172968"/>
            <a:ext cx="978408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93592" y="3172968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XPEV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166360" y="658368"/>
            <a:ext cx="3703320" cy="4206240"/>
          </a:xfrm>
          <a:prstGeom prst="rect">
            <a:avLst/>
          </a:prstGeom>
          <a:solidFill>
            <a:srgbClr val="112233"/>
          </a:solidFill>
          <a:ln w="1905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166360" y="658368"/>
            <a:ext cx="54864" cy="4206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49240" y="7498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Outputs</a:t>
            </a:r>
            <a:endParaRPr lang="en-US" sz="1600" dirty="0"/>
          </a:p>
        </p:txBody>
      </p:sp>
      <p:pic>
        <p:nvPicPr>
          <p:cNvPr id="5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325880"/>
            <a:ext cx="347472" cy="347472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5705856" y="1307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Prediction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5705856" y="16002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with confidence band, trend direction (▲/▼), volume analysis</a:t>
            </a:r>
            <a:endParaRPr lang="en-US" sz="1050" dirty="0"/>
          </a:p>
        </p:txBody>
      </p:sp>
      <p:pic>
        <p:nvPicPr>
          <p:cNvPr id="6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2148840"/>
            <a:ext cx="347472" cy="347472"/>
          </a:xfrm>
          <a:prstGeom prst="rect">
            <a:avLst/>
          </a:prstGeom>
        </p:spPr>
      </p:pic>
      <p:sp>
        <p:nvSpPr>
          <p:cNvPr id="62" name="Text 58"/>
          <p:cNvSpPr/>
          <p:nvPr/>
        </p:nvSpPr>
        <p:spPr>
          <a:xfrm>
            <a:off x="5705856" y="2130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Forecast Chart</a:t>
            </a:r>
            <a:endParaRPr lang="en-US" sz="1200" dirty="0"/>
          </a:p>
        </p:txBody>
      </p:sp>
      <p:sp>
        <p:nvSpPr>
          <p:cNvPr id="63" name="Text 59"/>
          <p:cNvSpPr/>
          <p:nvPr/>
        </p:nvSpPr>
        <p:spPr>
          <a:xfrm>
            <a:off x="5705856" y="2423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forecast with ±2% error band and current-day reference line</a:t>
            </a:r>
            <a:endParaRPr lang="en-US" sz="1050" dirty="0"/>
          </a:p>
        </p:txBody>
      </p:sp>
      <p:pic>
        <p:nvPicPr>
          <p:cNvPr id="6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971800"/>
            <a:ext cx="347472" cy="347472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5705856" y="2953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Chart</a:t>
            </a:r>
            <a:endParaRPr lang="en-US" sz="1200" dirty="0"/>
          </a:p>
        </p:txBody>
      </p:sp>
      <p:sp>
        <p:nvSpPr>
          <p:cNvPr id="66" name="Text 61"/>
          <p:cNvSpPr/>
          <p:nvPr/>
        </p:nvSpPr>
        <p:spPr>
          <a:xfrm>
            <a:off x="5705856" y="32461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on test set, overlaid with prediction error band</a:t>
            </a:r>
            <a:endParaRPr lang="en-US" sz="1050" dirty="0"/>
          </a:p>
        </p:txBody>
      </p:sp>
      <p:pic>
        <p:nvPicPr>
          <p:cNvPr id="6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232" y="3794760"/>
            <a:ext cx="347472" cy="347472"/>
          </a:xfrm>
          <a:prstGeom prst="rect">
            <a:avLst/>
          </a:prstGeom>
        </p:spPr>
      </p:pic>
      <p:sp>
        <p:nvSpPr>
          <p:cNvPr id="68" name="Text 62"/>
          <p:cNvSpPr/>
          <p:nvPr/>
        </p:nvSpPr>
        <p:spPr>
          <a:xfrm>
            <a:off x="5705856" y="3776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Persistence</a:t>
            </a:r>
            <a:endParaRPr lang="en-US" sz="1200" dirty="0"/>
          </a:p>
        </p:txBody>
      </p:sp>
      <p:sp>
        <p:nvSpPr>
          <p:cNvPr id="69" name="Text 63"/>
          <p:cNvSpPr/>
          <p:nvPr/>
        </p:nvSpPr>
        <p:spPr>
          <a:xfrm>
            <a:off x="5705856" y="4069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 saved to disk via joblib (XGBoost) and .keras (LSTM)</a:t>
            </a:r>
            <a:endParaRPr lang="en-US" sz="1050" dirty="0"/>
          </a:p>
        </p:txBody>
      </p:sp>
      <p:sp>
        <p:nvSpPr>
          <p:cNvPr id="70" name="Shape 6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EAEC4"/>
                </a:solidFill>
              </a:rPr>
              <a:t>Stock Prediction System  |  Tickers &amp; Outputs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58368"/>
            <a:ext cx="3977640" cy="749808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58368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13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33272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and BiLSTM trained simultaneously; best selected by RMSE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658368"/>
            <a:ext cx="3977640" cy="749808"/>
          </a:xfrm>
          <a:prstGeom prst="rect">
            <a:avLst/>
          </a:prstGeom>
          <a:solidFill>
            <a:srgbClr val="112233"/>
          </a:solidFill>
          <a:ln w="1905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658368"/>
            <a:ext cx="54864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713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033272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+ MA10 + RSI + MACD for rich technical signal input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554480"/>
            <a:ext cx="3977640" cy="749808"/>
          </a:xfrm>
          <a:prstGeom prst="rect">
            <a:avLst/>
          </a:prstGeom>
          <a:solidFill>
            <a:srgbClr val="112233"/>
          </a:solidFill>
          <a:ln w="1905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554480"/>
            <a:ext cx="54864" cy="7498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09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20-day Window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1929384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look-back window feeds temporal context to models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554480"/>
            <a:ext cx="3977640" cy="749808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554480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609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Ahead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929384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rolling forecast with confidence bands and trend labels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2450592"/>
            <a:ext cx="3977640" cy="749808"/>
          </a:xfrm>
          <a:prstGeom prst="rect">
            <a:avLst/>
          </a:prstGeom>
          <a:solidFill>
            <a:srgbClr val="112233"/>
          </a:solidFill>
          <a:ln w="1905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450592"/>
            <a:ext cx="54864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054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2825496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picks best model without any manual intervention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2450592"/>
            <a:ext cx="3977640" cy="749808"/>
          </a:xfrm>
          <a:prstGeom prst="rect">
            <a:avLst/>
          </a:prstGeom>
          <a:solidFill>
            <a:srgbClr val="112233"/>
          </a:solidFill>
          <a:ln w="1905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450592"/>
            <a:ext cx="54864" cy="7498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5054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2825496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serialised to disk for fast reuse without retraining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B4D8"/>
                </a:solidFill>
              </a:rPr>
              <a:t>A complete ML pipeline for professional-grade stock price forecasting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EAEC4"/>
                </a:solidFill>
              </a:rPr>
              <a:t>Stock Prediction System  |  Spoorthi S Patil  ·  v2.1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</Words>
  <Application>Microsoft Office PowerPoint</Application>
  <PresentationFormat>On-screen Show (16:9)</PresentationFormat>
  <Paragraphs>154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Stock Prediction &amp; Analysis System</dc:title>
  <dc:subject>PptxGenJS Presentation</dc:subject>
  <dc:creator>Spoorthi S Patil</dc:creator>
  <cp:lastModifiedBy>Spoorthi Patil</cp:lastModifiedBy>
  <cp:revision>2</cp:revision>
  <dcterms:created xsi:type="dcterms:W3CDTF">2026-04-15T09:24:22Z</dcterms:created>
  <dcterms:modified xsi:type="dcterms:W3CDTF">2026-04-15T10:13:21Z</dcterms:modified>
</cp:coreProperties>
</file>